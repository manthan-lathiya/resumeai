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3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293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755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8114" y="1029573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F6F8FC"/>
                </a:solidFill>
              </a:rPr>
              <a:t>Resume</a:t>
            </a:r>
            <a:r>
              <a:rPr lang="en-US" sz="4200" b="1" dirty="0" err="1">
                <a:solidFill>
                  <a:schemeClr val="accent5"/>
                </a:solidFill>
              </a:rPr>
              <a:t>AI</a:t>
            </a:r>
            <a:endParaRPr lang="en-US" sz="4200" dirty="0">
              <a:solidFill>
                <a:schemeClr val="accent5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1627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1EF"/>
                </a:solidFill>
              </a:rPr>
              <a:t>An Intelligent, AI-Powered Resume Builder &amp; ATS Optimizer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73405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9C0"/>
                </a:solidFill>
              </a:rPr>
              <a:t>Build smarter resumes. Measure ATS readiness. Improve with actionable AI feedback.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300000">
            <a:off x="7634819" y="964254"/>
            <a:ext cx="3246120" cy="2788920"/>
          </a:xfrm>
          <a:prstGeom prst="roundRect">
            <a:avLst>
              <a:gd name="adj" fmla="val 3934"/>
            </a:avLst>
          </a:prstGeom>
          <a:solidFill>
            <a:srgbClr val="F3F6FB"/>
          </a:solidFill>
          <a:ln w="12700">
            <a:solidFill>
              <a:srgbClr val="D8E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300000">
            <a:off x="7909560" y="1060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2"/>
                </a:solidFill>
              </a:rPr>
              <a:t>RESUME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300000">
            <a:off x="8040504" y="1652239"/>
            <a:ext cx="2057400" cy="82296"/>
          </a:xfrm>
          <a:prstGeom prst="round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300000">
            <a:off x="8009195" y="1938064"/>
            <a:ext cx="1737360" cy="82296"/>
          </a:xfrm>
          <a:prstGeom prst="roundRect">
            <a:avLst/>
          </a:prstGeom>
          <a:solidFill>
            <a:srgbClr val="AAB8D0"/>
          </a:solidFill>
          <a:ln w="12700">
            <a:solidFill>
              <a:srgbClr val="AAB8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300000">
            <a:off x="7955280" y="2267712"/>
            <a:ext cx="2057400" cy="82296"/>
          </a:xfrm>
          <a:prstGeom prst="roundRect">
            <a:avLst/>
          </a:prstGeom>
          <a:solidFill>
            <a:srgbClr val="AAB8D0"/>
          </a:solidFill>
          <a:ln w="12700">
            <a:solidFill>
              <a:srgbClr val="AAB8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300000">
            <a:off x="7955280" y="2615184"/>
            <a:ext cx="1737360" cy="82296"/>
          </a:xfrm>
          <a:prstGeom prst="roundRect">
            <a:avLst/>
          </a:prstGeom>
          <a:solidFill>
            <a:srgbClr val="AAB8D0"/>
          </a:solidFill>
          <a:ln w="12700">
            <a:solidFill>
              <a:srgbClr val="AAB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300000">
            <a:off x="7955280" y="2962656"/>
            <a:ext cx="2057400" cy="82296"/>
          </a:xfrm>
          <a:prstGeom prst="roundRect">
            <a:avLst/>
          </a:prstGeom>
          <a:solidFill>
            <a:srgbClr val="AAB8D0"/>
          </a:solidFill>
          <a:ln w="12700">
            <a:solidFill>
              <a:srgbClr val="AAB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46835" y="2467062"/>
            <a:ext cx="1508760" cy="1508760"/>
          </a:xfrm>
          <a:prstGeom prst="ellipse">
            <a:avLst/>
          </a:prstGeom>
          <a:solidFill>
            <a:srgbClr val="0D1A2B"/>
          </a:solidFill>
          <a:ln w="50800">
            <a:solidFill>
              <a:srgbClr val="2D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21155" y="2797057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F8FC"/>
                </a:solidFill>
              </a:rPr>
              <a:t>ATS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6F8FC"/>
                </a:solidFill>
              </a:rPr>
              <a:t>92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389120"/>
            <a:ext cx="54864" cy="1325880"/>
          </a:xfrm>
          <a:prstGeom prst="roundRect">
            <a:avLst>
              <a:gd name="adj" fmla="val 50000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897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8FC"/>
                </a:solidFill>
              </a:rPr>
              <a:t>●  Manthan Lathiya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" y="4910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Enrollment No.: 24002171710013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Branch: Computer Science &amp; Engineering – AI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Roll No.: 03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62272" y="4251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389120"/>
            <a:ext cx="54864" cy="1325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44897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8FC"/>
                </a:solidFill>
              </a:rPr>
              <a:t>●  Meet Bagadiya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910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Enrollment No.: 24002170210002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Branch: Information Technology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Roll No.: 24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84464" y="4251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4192" y="4389120"/>
            <a:ext cx="54864" cy="1325880"/>
          </a:xfrm>
          <a:prstGeom prst="roundRect">
            <a:avLst>
              <a:gd name="adj" fmla="val 50000"/>
            </a:avLst>
          </a:prstGeom>
          <a:solidFill>
            <a:srgbClr val="52D273"/>
          </a:solidFill>
          <a:ln w="12700">
            <a:solidFill>
              <a:srgbClr val="52D2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44897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8FC"/>
                </a:solidFill>
              </a:rPr>
              <a:t>●  Dhairya Jain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0496" y="4910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Enrollment No.: 25002170420004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Branch: Artificial Intelligence &amp; Machine Learning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Roll No.: 18</a:t>
            </a:r>
            <a:endParaRPr lang="en-US" sz="1050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138BC08-E671-0F19-E9BE-77AB048C7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73152"/>
            <a:ext cx="12191695" cy="1051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588" y="60350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C"/>
                </a:solidFill>
              </a:rPr>
              <a:t> About ResumeAI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61288" y="11292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8FC"/>
                </a:solidFill>
              </a:rPr>
              <a:t>ResumeAI turns a resume from a static document into a measurable, improvable career asset</a:t>
            </a:r>
            <a:r>
              <a:rPr lang="en-US" sz="1900" b="1" dirty="0">
                <a:solidFill>
                  <a:srgbClr val="F6F8FC"/>
                </a:solidFill>
              </a:rPr>
              <a:t>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1168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30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C"/>
                </a:solidFill>
              </a:rPr>
              <a:t>ATS Readiness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Scores compatibility using keywords, formatting, completeness and quantified achievements.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53128" y="18745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2856" y="201168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2130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C"/>
                </a:solidFill>
              </a:rPr>
              <a:t>Resume Builder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27448" y="25146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Create, save and manage structured resumes inside one application.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66176" y="187452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01168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168CA5"/>
          </a:solidFill>
          <a:ln w="12700">
            <a:solidFill>
              <a:srgbClr val="168C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2130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C"/>
                </a:solidFill>
              </a:rPr>
              <a:t>Job Comparison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0496" y="25146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Compare a resume with a job description and surface matched / missing keywords.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88620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C"/>
                </a:solidFill>
              </a:rPr>
              <a:t>Actionable 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Provides specific rewrites with original text, improved text and reasoning.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53128" y="37490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62856" y="388620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4E8B3A"/>
          </a:solidFill>
          <a:ln w="12700">
            <a:solidFill>
              <a:srgbClr val="4E8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C"/>
                </a:solidFill>
              </a:rPr>
              <a:t>Secure Workspace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27448" y="4389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JWT-protected user accounts keep saved resumes and analysis history user-specific.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66176" y="37490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5904" y="388620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B05AD9"/>
          </a:solidFill>
          <a:ln w="12700">
            <a:solidFill>
              <a:srgbClr val="B05A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0496" y="40050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C"/>
                </a:solidFill>
              </a:rPr>
              <a:t>PDF &amp; DOCX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40496" y="4389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Supports common resume formats for direct analysis.</a:t>
            </a:r>
            <a:endParaRPr lang="en-US" sz="1050" dirty="0"/>
          </a:p>
        </p:txBody>
      </p:sp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63A63B58-B821-4CB0-C736-B8A6A7F92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73152"/>
            <a:ext cx="12191695" cy="1051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3856" y="6812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6F8FC"/>
                </a:solidFill>
              </a:rPr>
              <a:t>How </a:t>
            </a:r>
            <a:r>
              <a:rPr lang="en-US" sz="3600" b="1" dirty="0">
                <a:solidFill>
                  <a:srgbClr val="F6F8FC"/>
                </a:solidFill>
              </a:rPr>
              <a:t>ResumeAI</a:t>
            </a:r>
            <a:r>
              <a:rPr lang="en-US" sz="3200" b="1" dirty="0">
                <a:solidFill>
                  <a:srgbClr val="F6F8FC"/>
                </a:solidFill>
              </a:rPr>
              <a:t>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234440" cy="1051560"/>
          </a:xfrm>
          <a:prstGeom prst="roundRect">
            <a:avLst>
              <a:gd name="adj" fmla="val 10435"/>
            </a:avLst>
          </a:prstGeom>
          <a:solidFill>
            <a:srgbClr val="4F7CFF">
              <a:alpha val="80000"/>
            </a:srgbClr>
          </a:solidFill>
          <a:ln w="15240">
            <a:solidFill>
              <a:srgbClr val="4F7CFF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F8FC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4632" y="25877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8FC"/>
                </a:solidFill>
              </a:rPr>
              <a:t>UPLOAD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7556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9C0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1234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9C0"/>
                </a:solidFill>
              </a:rPr>
              <a:t>Upload PDF / DOCX or select a saved resume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8648" y="1417320"/>
            <a:ext cx="1234440" cy="1051560"/>
          </a:xfrm>
          <a:prstGeom prst="roundRect">
            <a:avLst>
              <a:gd name="adj" fmla="val 10435"/>
            </a:avLst>
          </a:prstGeom>
          <a:solidFill>
            <a:srgbClr val="8B5CF6">
              <a:alpha val="80000"/>
            </a:srgbClr>
          </a:solidFill>
          <a:ln w="1524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F8FC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25877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8FC"/>
                </a:solidFill>
              </a:rPr>
              <a:t>PARSE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17556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9C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98648" y="294436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9C0"/>
                </a:solidFill>
              </a:rPr>
              <a:t>Extract structured resume 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02936" y="1417320"/>
            <a:ext cx="1234440" cy="1051560"/>
          </a:xfrm>
          <a:prstGeom prst="roundRect">
            <a:avLst>
              <a:gd name="adj" fmla="val 10435"/>
            </a:avLst>
          </a:prstGeom>
          <a:solidFill>
            <a:srgbClr val="168CA5">
              <a:alpha val="80000"/>
            </a:srgbClr>
          </a:solidFill>
          <a:ln w="15240">
            <a:solidFill>
              <a:srgbClr val="168CA5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F8FC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93208" y="25877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8FC"/>
                </a:solidFill>
              </a:rPr>
              <a:t>VALIDATE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0256" y="17556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9C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02936" y="294436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9C0"/>
                </a:solidFill>
              </a:rPr>
              <a:t>Confirm the document is a resume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07224" y="1417320"/>
            <a:ext cx="1234440" cy="1051560"/>
          </a:xfrm>
          <a:prstGeom prst="roundRect">
            <a:avLst>
              <a:gd name="adj" fmla="val 10435"/>
            </a:avLst>
          </a:prstGeom>
          <a:solidFill>
            <a:srgbClr val="F4A62A">
              <a:alpha val="80000"/>
            </a:srgbClr>
          </a:solidFill>
          <a:ln w="15240">
            <a:solidFill>
              <a:srgbClr val="F4A62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F8FC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97496" y="25877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8FC"/>
                </a:solidFill>
              </a:rPr>
              <a:t>ANALYZE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24544" y="17556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9C0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07224" y="290779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9C0"/>
                </a:solidFill>
              </a:rPr>
              <a:t>Gemini evaluates ATS, sections &amp; keywords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11512" y="1417320"/>
            <a:ext cx="1234440" cy="1051560"/>
          </a:xfrm>
          <a:prstGeom prst="roundRect">
            <a:avLst>
              <a:gd name="adj" fmla="val 10435"/>
            </a:avLst>
          </a:prstGeom>
          <a:solidFill>
            <a:srgbClr val="4E8B3A">
              <a:alpha val="80000"/>
            </a:srgbClr>
          </a:solidFill>
          <a:ln w="15240">
            <a:solidFill>
              <a:srgbClr val="4E8B3A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4704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6F8FC"/>
                </a:solidFill>
              </a:rPr>
              <a:t>05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01784" y="25877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F8FC"/>
                </a:solidFill>
              </a:rPr>
              <a:t>IMPROVE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11512" y="2903220"/>
            <a:ext cx="123444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9C0"/>
                </a:solidFill>
              </a:rPr>
              <a:t>Show scores, issues &amp; rewrite suggestions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4183380"/>
            <a:ext cx="10789920" cy="1508760"/>
          </a:xfrm>
          <a:prstGeom prst="roundRect">
            <a:avLst>
              <a:gd name="adj" fmla="val 4848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4297680"/>
            <a:ext cx="54864" cy="1234440"/>
          </a:xfrm>
          <a:prstGeom prst="roundRect">
            <a:avLst>
              <a:gd name="adj" fmla="val 50000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379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8FC"/>
                </a:solidFill>
              </a:rPr>
              <a:t>What the AI returns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063240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4F7CFF">
              <a:alpha val="22000"/>
            </a:srgbClr>
          </a:solidFill>
          <a:ln w="12700">
            <a:solidFill>
              <a:srgbClr val="4F7CFF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6392" y="44348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F8FC"/>
                </a:solidFill>
              </a:rPr>
              <a:t>ATS Score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44348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F8FC"/>
                </a:solidFill>
              </a:rPr>
              <a:t>Formatting Issues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168CA5">
              <a:alpha val="22000"/>
            </a:srgbClr>
          </a:solidFill>
          <a:ln w="12700">
            <a:solidFill>
              <a:srgbClr val="168CA5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44348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F8FC"/>
                </a:solidFill>
              </a:rPr>
              <a:t>Missing Sections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63840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F4A62A">
              <a:alpha val="22000"/>
            </a:srgbClr>
          </a:solidFill>
          <a:ln w="12700">
            <a:solidFill>
              <a:srgbClr val="F4A62A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36992" y="44348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F8FC"/>
                </a:solidFill>
              </a:rPr>
              <a:t>Keyword Analysis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464040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4E8B3A">
              <a:alpha val="22000"/>
            </a:srgbClr>
          </a:solidFill>
          <a:ln w="12700">
            <a:solidFill>
              <a:srgbClr val="4E8B3A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37192" y="4434840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F8FC"/>
                </a:solidFill>
              </a:rPr>
              <a:t>Before → After Suggestions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0120" y="50749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9C0"/>
                </a:solidFill>
              </a:rPr>
              <a:t>The analysis is stored so the user can revisit previous results from the dashboard.</a:t>
            </a:r>
            <a:endParaRPr lang="en-US" sz="1100" dirty="0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73152"/>
            <a:ext cx="12191695" cy="1051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19200" y="71780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C"/>
                </a:solidFill>
              </a:rPr>
              <a:t>Technology &amp; Key Features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46304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C"/>
                </a:solidFill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React 18 • Vite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Tailwind CSS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32888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9C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71216" y="13258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146304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C"/>
                </a:solidFill>
              </a:rPr>
              <a:t>Gateway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27248" y="2148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Express • Zod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Multer • Rate Limit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37176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9C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75504" y="13258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5232" y="146304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C"/>
                </a:solidFill>
              </a:rPr>
              <a:t>Backend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31536" y="2148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Django 5 • DRF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SimpleJWT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41464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9C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79792" y="13258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46304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C"/>
                </a:solidFill>
              </a:rPr>
              <a:t>AI Engine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35824" y="2148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Google Gemini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Structured JSON 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45752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9C0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84080" y="13258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93808" y="1463040"/>
            <a:ext cx="54864" cy="1554480"/>
          </a:xfrm>
          <a:prstGeom prst="roundRect">
            <a:avLst>
              <a:gd name="adj" fmla="val 50000"/>
            </a:avLst>
          </a:prstGeom>
          <a:solidFill>
            <a:srgbClr val="4E8B3A"/>
          </a:solidFill>
          <a:ln w="12700">
            <a:solidFill>
              <a:srgbClr val="4E8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C"/>
                </a:solidFill>
              </a:rPr>
              <a:t>Database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40112" y="2148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SQLite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AA9C0"/>
                </a:solidFill>
              </a:rPr>
              <a:t>Django ORM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F8FC"/>
                </a:solidFill>
              </a:rPr>
              <a:t>Key Features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425196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41D30"/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4074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C"/>
                </a:solidFill>
              </a:rPr>
              <a:t>✓  Resume Builder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61688" y="425196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41D30"/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2856" y="44074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C"/>
                </a:solidFill>
              </a:rPr>
              <a:t>✓  ATS Analyzer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65008" y="425196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41D30"/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44074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C"/>
                </a:solidFill>
              </a:rPr>
              <a:t>✓  Job Description Match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" y="502920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41D30"/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5184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C"/>
                </a:solidFill>
              </a:rPr>
              <a:t>✓  Analysis History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61688" y="502920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41D30"/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62856" y="5184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C"/>
                </a:solidFill>
              </a:rPr>
              <a:t>✓  Validation &amp; File Upload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65008" y="502920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41D30"/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6176" y="51846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C"/>
                </a:solidFill>
              </a:rPr>
              <a:t>✓  Responsive UI</a:t>
            </a:r>
            <a:endParaRPr lang="en-US" sz="1150" dirty="0"/>
          </a:p>
        </p:txBody>
      </p:sp>
      <p:pic>
        <p:nvPicPr>
          <p:cNvPr id="47" name="Picture 46" descr="image.png">
            <a:extLst>
              <a:ext uri="{FF2B5EF4-FFF2-40B4-BE49-F238E27FC236}">
                <a16:creationId xmlns:a16="http://schemas.microsoft.com/office/drawing/2014/main" id="{2A0C6FE3-988D-F077-E74B-E9C180740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73152"/>
            <a:ext cx="12191695" cy="1051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C"/>
                </a:solidFill>
              </a:rPr>
              <a:t>Future Enhancements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2971800"/>
            <a:ext cx="9784080" cy="0"/>
          </a:xfrm>
          <a:prstGeom prst="line">
            <a:avLst/>
          </a:prstGeom>
          <a:noFill/>
          <a:ln w="50800">
            <a:solidFill>
              <a:srgbClr val="25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2679192"/>
            <a:ext cx="566928" cy="566928"/>
          </a:xfrm>
          <a:prstGeom prst="ellipse">
            <a:avLst/>
          </a:prstGeom>
          <a:solidFill>
            <a:srgbClr val="4F7CFF"/>
          </a:solidFill>
          <a:ln w="38100">
            <a:solidFill>
              <a:srgbClr val="080D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28437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8FC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8FC"/>
                </a:solidFill>
              </a:rPr>
              <a:t>More Templates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190195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9C0"/>
                </a:solidFill>
              </a:rPr>
              <a:t>Role-specific and modern resume designs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10712" y="2679192"/>
            <a:ext cx="566928" cy="566928"/>
          </a:xfrm>
          <a:prstGeom prst="ellipse">
            <a:avLst/>
          </a:prstGeom>
          <a:solidFill>
            <a:srgbClr val="8B5CF6"/>
          </a:solidFill>
          <a:ln w="38100">
            <a:solidFill>
              <a:srgbClr val="080D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28437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8FC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71800" y="3474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8FC"/>
                </a:solidFill>
              </a:rPr>
              <a:t>Company ATS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98648" y="385876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9C0"/>
                </a:solidFill>
              </a:rPr>
              <a:t>Tailor scoring for target companies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96712" y="2679192"/>
            <a:ext cx="566928" cy="566928"/>
          </a:xfrm>
          <a:prstGeom prst="ellipse">
            <a:avLst/>
          </a:prstGeom>
          <a:solidFill>
            <a:srgbClr val="168CA5"/>
          </a:solidFill>
          <a:ln w="38100">
            <a:solidFill>
              <a:srgbClr val="080D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28437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8FC"/>
                </a:solidFill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57800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8FC"/>
                </a:solidFill>
              </a:rPr>
              <a:t>AI Career Roadmap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84648" y="190195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9C0"/>
                </a:solidFill>
              </a:rPr>
              <a:t>Generate personalized skill-development roadmap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82712" y="2679192"/>
            <a:ext cx="566928" cy="566928"/>
          </a:xfrm>
          <a:prstGeom prst="ellipse">
            <a:avLst/>
          </a:prstGeom>
          <a:solidFill>
            <a:srgbClr val="F4A62A"/>
          </a:solidFill>
          <a:ln w="38100">
            <a:solidFill>
              <a:srgbClr val="080D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74152" y="28437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8FC"/>
                </a:solidFill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43800" y="3474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8FC"/>
                </a:solidFill>
              </a:rPr>
              <a:t>Job Discovery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70648" y="3858768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9C0"/>
                </a:solidFill>
              </a:rPr>
              <a:t>Recommend suitable roles from profile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268712" y="2679192"/>
            <a:ext cx="566928" cy="566928"/>
          </a:xfrm>
          <a:prstGeom prst="ellipse">
            <a:avLst/>
          </a:prstGeom>
          <a:solidFill>
            <a:srgbClr val="4E8B3A"/>
          </a:solidFill>
          <a:ln w="38100">
            <a:solidFill>
              <a:srgbClr val="080D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0152" y="284378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6F8FC"/>
                </a:solidFill>
              </a:rPr>
              <a:t>05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829800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8FC"/>
                </a:solidFill>
              </a:rPr>
              <a:t>Career Ecosystem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56648" y="1901952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9C0"/>
                </a:solidFill>
              </a:rPr>
              <a:t>LinkedIn, cloud sync &amp; multilingual support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65960" y="51206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01827">
              <a:alpha val="98000"/>
            </a:srgbClr>
          </a:solidFill>
          <a:ln w="12700">
            <a:solidFill>
              <a:srgbClr val="253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5688" y="5257800"/>
            <a:ext cx="54864" cy="548640"/>
          </a:xfrm>
          <a:prstGeom prst="roundRect">
            <a:avLst>
              <a:gd name="adj" fmla="val 50000"/>
            </a:avLst>
          </a:prstGeom>
          <a:solidFill>
            <a:srgbClr val="2DD4FF"/>
          </a:solidFill>
          <a:ln w="12700">
            <a:solidFill>
              <a:srgbClr val="2D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541324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8FC"/>
                </a:solidFill>
              </a:rPr>
              <a:t>Goal: evolve from resume improvement into an end-to-end AI career assistant.</a:t>
            </a:r>
            <a:endParaRPr lang="en-US" sz="1400" dirty="0"/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5D528B8D-99FA-D0FD-C93D-5A1F3291B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73152"/>
            <a:ext cx="12191695" cy="1051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7000" y="177967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6F8FC"/>
                </a:solidFill>
              </a:rPr>
              <a:t>Thank You !!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58287" y="283123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D4FF"/>
                </a:solidFill>
              </a:rPr>
              <a:t>ResumeAI — Smarter Resumes. Stronger Applications.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7448" y="3573062"/>
            <a:ext cx="2560320" cy="292608"/>
          </a:xfrm>
          <a:prstGeom prst="roundRect">
            <a:avLst>
              <a:gd name="adj" fmla="val 37500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3639311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6F8FC"/>
                </a:solidFill>
              </a:rPr>
              <a:t>Questions &amp; Discussion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52578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D0E0"/>
                </a:solidFill>
              </a:rPr>
              <a:t>●  Manthan Lathiya     ●  Meet Bagadiya     ●  Dhairya Jain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59893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9C0"/>
                </a:solidFill>
              </a:rPr>
              <a:t>Built with React • Express • Django • Gemini</a:t>
            </a:r>
            <a:endParaRPr lang="en-US" sz="1000" dirty="0"/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65C02CFF-94ED-0167-C372-E2AAFDBD9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73152"/>
            <a:ext cx="12191695" cy="1051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419</Words>
  <Application>Microsoft Office PowerPoint</Application>
  <PresentationFormat>Widescreen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ResumeAI</dc:title>
  <dc:subject>ResumeAI Project Presentation</dc:subject>
  <dc:creator>OpenAI</dc:creator>
  <cp:lastModifiedBy>Harsh Bagadiya</cp:lastModifiedBy>
  <cp:revision>12</cp:revision>
  <dcterms:created xsi:type="dcterms:W3CDTF">2026-08-07T08:36:38Z</dcterms:created>
  <dcterms:modified xsi:type="dcterms:W3CDTF">2026-08-08T06:32:57Z</dcterms:modified>
</cp:coreProperties>
</file>